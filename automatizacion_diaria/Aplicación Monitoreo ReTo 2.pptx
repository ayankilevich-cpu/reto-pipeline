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96" d="100"/>
          <a:sy n="96" d="100"/>
        </p:scale>
        <p:origin x="200" y="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4572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640080"/>
            <a:ext cx="4114800" cy="21498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28800" y="3383280"/>
            <a:ext cx="8503920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800" b="1">
                <a:solidFill>
                  <a:srgbClr val="1A2C3E"/>
                </a:solidFill>
              </a:defRPr>
            </a:pPr>
            <a:r>
              <a:t>Aplicación de Monitoreo 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555555"/>
                </a:solidFill>
              </a:defRPr>
            </a:pPr>
            <a:r>
              <a:t>Herramienta para detección, análisis y validación de discurso de odio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58220"/>
                </a:solidFill>
              </a:defRPr>
            </a:pPr>
            <a:r>
              <a:t>Presentación para socios del proyecto  ·  Reunión 7 de abril de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" y="5686054"/>
            <a:ext cx="12191695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5650992"/>
            <a:ext cx="12191695" cy="36576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1_cie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384" y="6146395"/>
            <a:ext cx="1124174" cy="201168"/>
          </a:xfrm>
          <a:prstGeom prst="rect">
            <a:avLst/>
          </a:prstGeom>
        </p:spPr>
      </p:pic>
      <p:pic>
        <p:nvPicPr>
          <p:cNvPr id="13" name="Picture 12" descr="02_cif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300" y="6059611"/>
            <a:ext cx="967804" cy="341189"/>
          </a:xfrm>
          <a:prstGeom prst="rect">
            <a:avLst/>
          </a:prstGeom>
        </p:spPr>
      </p:pic>
      <p:pic>
        <p:nvPicPr>
          <p:cNvPr id="14" name="Picture 13" descr="03_laguaji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561" y="6046431"/>
            <a:ext cx="687487" cy="396782"/>
          </a:xfrm>
          <a:prstGeom prst="rect">
            <a:avLst/>
          </a:prstGeom>
        </p:spPr>
      </p:pic>
      <p:pic>
        <p:nvPicPr>
          <p:cNvPr id="15" name="Picture 14" descr="04_cpp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2500" y="6046041"/>
            <a:ext cx="1006693" cy="397172"/>
          </a:xfrm>
          <a:prstGeom prst="rect">
            <a:avLst/>
          </a:prstGeom>
        </p:spPr>
      </p:pic>
      <p:pic>
        <p:nvPicPr>
          <p:cNvPr id="16" name="Picture 15" descr="05_co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3645" y="5932279"/>
            <a:ext cx="271348" cy="502920"/>
          </a:xfrm>
          <a:prstGeom prst="rect">
            <a:avLst/>
          </a:prstGeom>
        </p:spPr>
      </p:pic>
      <p:pic>
        <p:nvPicPr>
          <p:cNvPr id="17" name="Picture 16" descr="06_mc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7027" y="6072778"/>
            <a:ext cx="1059570" cy="370435"/>
          </a:xfrm>
          <a:prstGeom prst="rect">
            <a:avLst/>
          </a:prstGeom>
        </p:spPr>
      </p:pic>
      <p:pic>
        <p:nvPicPr>
          <p:cNvPr id="18" name="Picture 17" descr="07_e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2644" y="5966797"/>
            <a:ext cx="2554476" cy="5338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¿Qué aporta la plataforma hoy?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CCDD"/>
                </a:solidFill>
              </a:defRPr>
            </a:pPr>
            <a:r>
              <a:t>Valor operativo para 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71616"/>
            <a:ext cx="12191695" cy="182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1508760"/>
            <a:ext cx="73152" cy="54864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14630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Centralización:  </a:t>
            </a:r>
            <a:r>
              <a:rPr sz="1500">
                <a:solidFill>
                  <a:srgbClr val="555555"/>
                </a:solidFill>
              </a:rPr>
              <a:t>Unifica información de mensajes en X (Twitter) y YouTube en un único entorno de trabajo.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286000"/>
            <a:ext cx="73152" cy="54864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2240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Monitoreo:  </a:t>
            </a:r>
            <a:r>
              <a:rPr sz="1500">
                <a:solidFill>
                  <a:srgbClr val="555555"/>
                </a:solidFill>
              </a:rPr>
              <a:t>Permite seguir volumen, tendencias, categorías y señales de interés por plataforma y medio.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063240"/>
            <a:ext cx="73152" cy="548640"/>
          </a:xfrm>
          <a:prstGeom prst="rect">
            <a:avLst/>
          </a:prstGeom>
          <a:solidFill>
            <a:srgbClr val="2E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017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Operatividad:  </a:t>
            </a:r>
            <a:r>
              <a:rPr sz="1500">
                <a:solidFill>
                  <a:srgbClr val="555555"/>
                </a:solidFill>
              </a:rPr>
              <a:t>Facilita tareas de análisis, priorización y seguimiento del discurso de odio.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73152" cy="548640"/>
          </a:xfrm>
          <a:prstGeom prst="rect">
            <a:avLst/>
          </a:prstGeom>
          <a:solidFill>
            <a:srgbClr val="7D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7947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Validación humana:  </a:t>
            </a:r>
            <a:r>
              <a:rPr sz="1500">
                <a:solidFill>
                  <a:srgbClr val="555555"/>
                </a:solidFill>
              </a:rPr>
              <a:t>Integra anotación y validación de mensajes para asegurar calidad y trazabilidad.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17720"/>
            <a:ext cx="73152" cy="5486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A2C3E"/>
                </a:solidFill>
              </a:rPr>
              <a:t>Uso inmediato:  </a:t>
            </a:r>
            <a:r>
              <a:rPr sz="1500">
                <a:solidFill>
                  <a:srgbClr val="555555"/>
                </a:solidFill>
              </a:rPr>
              <a:t>Apoya tareas actuales del proyecto, más allá del proceso de mejora continua del modelo.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4068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46811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58220"/>
                </a:solidFill>
              </a:defRPr>
            </a:pPr>
            <a:r>
              <a:t>La aplicación ya está operativa como herramienta de trabajo, en paralelo a la mejora continua del modelo.</a:t>
            </a:r>
          </a:p>
        </p:txBody>
      </p:sp>
      <p:pic>
        <p:nvPicPr>
          <p:cNvPr id="29" name="Picture 11" descr="01_ciedes.png">
            <a:extLst>
              <a:ext uri="{FF2B5EF4-FFF2-40B4-BE49-F238E27FC236}">
                <a16:creationId xmlns:a16="http://schemas.microsoft.com/office/drawing/2014/main" id="{EEEDFAD1-4372-BDB9-C7B6-D98868446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95" y="6377745"/>
            <a:ext cx="1117401" cy="199956"/>
          </a:xfrm>
          <a:prstGeom prst="rect">
            <a:avLst/>
          </a:prstGeom>
        </p:spPr>
      </p:pic>
      <p:pic>
        <p:nvPicPr>
          <p:cNvPr id="30" name="Picture 12" descr="02_cifal.png">
            <a:extLst>
              <a:ext uri="{FF2B5EF4-FFF2-40B4-BE49-F238E27FC236}">
                <a16:creationId xmlns:a16="http://schemas.microsoft.com/office/drawing/2014/main" id="{18D6D5AE-19C4-43ED-C721-8D4E53860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611" y="6291805"/>
            <a:ext cx="961973" cy="339133"/>
          </a:xfrm>
          <a:prstGeom prst="rect">
            <a:avLst/>
          </a:prstGeom>
        </p:spPr>
      </p:pic>
      <p:pic>
        <p:nvPicPr>
          <p:cNvPr id="31" name="Picture 13" descr="03_laguajira.png">
            <a:extLst>
              <a:ext uri="{FF2B5EF4-FFF2-40B4-BE49-F238E27FC236}">
                <a16:creationId xmlns:a16="http://schemas.microsoft.com/office/drawing/2014/main" id="{C575DD9A-66C4-86FC-323F-F1E78E780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872" y="6278959"/>
            <a:ext cx="683345" cy="394391"/>
          </a:xfrm>
          <a:prstGeom prst="rect">
            <a:avLst/>
          </a:prstGeom>
        </p:spPr>
      </p:pic>
      <p:pic>
        <p:nvPicPr>
          <p:cNvPr id="32" name="Picture 14" descr="04_cppa.png">
            <a:extLst>
              <a:ext uri="{FF2B5EF4-FFF2-40B4-BE49-F238E27FC236}">
                <a16:creationId xmlns:a16="http://schemas.microsoft.com/office/drawing/2014/main" id="{12F5B9D8-9F35-9259-87C6-B8485A005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812" y="6278571"/>
            <a:ext cx="1000628" cy="394779"/>
          </a:xfrm>
          <a:prstGeom prst="rect">
            <a:avLst/>
          </a:prstGeom>
        </p:spPr>
      </p:pic>
      <p:pic>
        <p:nvPicPr>
          <p:cNvPr id="33" name="Picture 15" descr="05_coe.png">
            <a:extLst>
              <a:ext uri="{FF2B5EF4-FFF2-40B4-BE49-F238E27FC236}">
                <a16:creationId xmlns:a16="http://schemas.microsoft.com/office/drawing/2014/main" id="{365E40A4-16E1-5570-63A0-020ADBDAE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956" y="6165447"/>
            <a:ext cx="269713" cy="499890"/>
          </a:xfrm>
          <a:prstGeom prst="rect">
            <a:avLst/>
          </a:prstGeom>
        </p:spPr>
      </p:pic>
      <p:pic>
        <p:nvPicPr>
          <p:cNvPr id="34" name="Picture 16" descr="06_mci.png">
            <a:extLst>
              <a:ext uri="{FF2B5EF4-FFF2-40B4-BE49-F238E27FC236}">
                <a16:creationId xmlns:a16="http://schemas.microsoft.com/office/drawing/2014/main" id="{28F06689-05E4-4930-DE3A-DEBC27E82A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2338" y="6305148"/>
            <a:ext cx="1053186" cy="368203"/>
          </a:xfrm>
          <a:prstGeom prst="rect">
            <a:avLst/>
          </a:prstGeom>
        </p:spPr>
      </p:pic>
      <p:pic>
        <p:nvPicPr>
          <p:cNvPr id="35" name="Picture 17" descr="07_eu.png">
            <a:extLst>
              <a:ext uri="{FF2B5EF4-FFF2-40B4-BE49-F238E27FC236}">
                <a16:creationId xmlns:a16="http://schemas.microsoft.com/office/drawing/2014/main" id="{2BE619E2-D439-1E93-2142-64646E6A3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55" y="6200151"/>
            <a:ext cx="2539085" cy="530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Navegación de la aplicación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CCDD"/>
                </a:solidFill>
              </a:defRPr>
            </a:pPr>
            <a:r>
              <a:t>Perfil Editor — acceso para socios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071616"/>
            <a:ext cx="12191695" cy="182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_cie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2554941" cy="457200"/>
          </a:xfrm>
          <a:prstGeom prst="rect">
            <a:avLst/>
          </a:prstGeom>
        </p:spPr>
      </p:pic>
      <p:pic>
        <p:nvPicPr>
          <p:cNvPr id="10" name="Picture 9" descr="02_cif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6199632"/>
            <a:ext cx="1296878" cy="457200"/>
          </a:xfrm>
          <a:prstGeom prst="rect">
            <a:avLst/>
          </a:prstGeom>
        </p:spPr>
      </p:pic>
      <p:pic>
        <p:nvPicPr>
          <p:cNvPr id="11" name="Picture 10" descr="03_laguaji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6199632"/>
            <a:ext cx="792171" cy="457200"/>
          </a:xfrm>
          <a:prstGeom prst="rect">
            <a:avLst/>
          </a:prstGeom>
        </p:spPr>
      </p:pic>
      <p:pic>
        <p:nvPicPr>
          <p:cNvPr id="12" name="Picture 11" descr="04_c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6199632"/>
            <a:ext cx="1158844" cy="457200"/>
          </a:xfrm>
          <a:prstGeom prst="rect">
            <a:avLst/>
          </a:prstGeom>
        </p:spPr>
      </p:pic>
      <p:pic>
        <p:nvPicPr>
          <p:cNvPr id="13" name="Picture 12" descr="05_co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6199632"/>
            <a:ext cx="246680" cy="457200"/>
          </a:xfrm>
          <a:prstGeom prst="rect">
            <a:avLst/>
          </a:prstGeom>
        </p:spPr>
      </p:pic>
      <p:pic>
        <p:nvPicPr>
          <p:cNvPr id="14" name="Picture 13" descr="06_mc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6199632"/>
            <a:ext cx="1307745" cy="457200"/>
          </a:xfrm>
          <a:prstGeom prst="rect">
            <a:avLst/>
          </a:prstGeom>
        </p:spPr>
      </p:pic>
      <p:pic>
        <p:nvPicPr>
          <p:cNvPr id="15" name="Picture 14" descr="07_e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6199632"/>
            <a:ext cx="2187723" cy="457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1463040"/>
            <a:ext cx="3840480" cy="128016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15544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Acceso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Ingreso con usuario y contraseña asignados a cada socio del proyecto.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463040"/>
            <a:ext cx="6949440" cy="1280160"/>
          </a:xfrm>
          <a:prstGeom prst="roundRect">
            <a:avLst>
              <a:gd name="adj" fmla="val 5000"/>
            </a:avLst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155448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58220"/>
                </a:solidFill>
              </a:defRPr>
            </a:pPr>
            <a:r>
              <a:t>Secciones no visibles para Editor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Comparativa modelos  ·  Calidad LLM (reservadas para administración).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906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Panel general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Indicadores clave consolidados.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0906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063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Categorías de odio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Distribución por las 6 categorías ReTo.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0906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30632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Ranking de medios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Top medios por volumen y % de odio.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050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9776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Análisis contextual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Tendencias semanales y alertas.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0050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9776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Términos frecuentes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Palabras más recurrentes en mensajes candidatos.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0050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39776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Dataset Gold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Evaluación del etiquetado validado.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194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892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Análisis Art. 510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Potenciales delitos bajo el Código Penal.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9194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4892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Anotación y validación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Flujo de trabajo de anotación humana.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4919472"/>
            <a:ext cx="54864" cy="640080"/>
          </a:xfrm>
          <a:prstGeom prst="rect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4892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2C3E"/>
                </a:solidFill>
              </a:defRPr>
            </a:pPr>
            <a:r>
              <a:t>Delitos de odio (oficial)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555555"/>
                </a:solidFill>
              </a:defRPr>
            </a:pPr>
            <a:r>
              <a:t>Datos oficiales de España.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Flujo de uso para socios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CCDD"/>
                </a:solidFill>
              </a:defRPr>
            </a:pPr>
            <a:r>
              <a:t>Cuatro pasos del trabajo diario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071616"/>
            <a:ext cx="12191695" cy="182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_cie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2554941" cy="457200"/>
          </a:xfrm>
          <a:prstGeom prst="rect">
            <a:avLst/>
          </a:prstGeom>
        </p:spPr>
      </p:pic>
      <p:pic>
        <p:nvPicPr>
          <p:cNvPr id="10" name="Picture 9" descr="02_cif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6199632"/>
            <a:ext cx="1296878" cy="457200"/>
          </a:xfrm>
          <a:prstGeom prst="rect">
            <a:avLst/>
          </a:prstGeom>
        </p:spPr>
      </p:pic>
      <p:pic>
        <p:nvPicPr>
          <p:cNvPr id="11" name="Picture 10" descr="03_laguaji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6199632"/>
            <a:ext cx="792171" cy="457200"/>
          </a:xfrm>
          <a:prstGeom prst="rect">
            <a:avLst/>
          </a:prstGeom>
        </p:spPr>
      </p:pic>
      <p:pic>
        <p:nvPicPr>
          <p:cNvPr id="12" name="Picture 11" descr="04_c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6199632"/>
            <a:ext cx="1158844" cy="457200"/>
          </a:xfrm>
          <a:prstGeom prst="rect">
            <a:avLst/>
          </a:prstGeom>
        </p:spPr>
      </p:pic>
      <p:pic>
        <p:nvPicPr>
          <p:cNvPr id="13" name="Picture 12" descr="05_co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6199632"/>
            <a:ext cx="246680" cy="457200"/>
          </a:xfrm>
          <a:prstGeom prst="rect">
            <a:avLst/>
          </a:prstGeom>
        </p:spPr>
      </p:pic>
      <p:pic>
        <p:nvPicPr>
          <p:cNvPr id="14" name="Picture 13" descr="06_mc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6199632"/>
            <a:ext cx="1307745" cy="457200"/>
          </a:xfrm>
          <a:prstGeom prst="rect">
            <a:avLst/>
          </a:prstGeom>
        </p:spPr>
      </p:pic>
      <p:pic>
        <p:nvPicPr>
          <p:cNvPr id="15" name="Picture 14" descr="07_e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6199632"/>
            <a:ext cx="2187723" cy="457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600200"/>
            <a:ext cx="2423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80160" y="1828800"/>
            <a:ext cx="822960" cy="82296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Monitorear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555555"/>
                </a:solidFill>
              </a:defRPr>
            </a:pPr>
            <a:r>
              <a:t>Revisar paneles y métricas</a:t>
            </a:r>
            <a:br/>
            <a:r>
              <a:t>por plataforma, categoría</a:t>
            </a:r>
            <a:br/>
            <a:r>
              <a:t>y medio de comunicación.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1600200"/>
            <a:ext cx="2423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160520" y="1828800"/>
            <a:ext cx="822960" cy="822960"/>
          </a:xfrm>
          <a:prstGeom prst="ellipse">
            <a:avLst/>
          </a:prstGeom>
          <a:solidFill>
            <a:srgbClr val="2E9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Explorar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2918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555555"/>
                </a:solidFill>
              </a:defRPr>
            </a:pPr>
            <a:r>
              <a:t>Identificar patrones,</a:t>
            </a:r>
            <a:br/>
            <a:r>
              <a:t>picos contextuales y</a:t>
            </a:r>
            <a:br/>
            <a:r>
              <a:t>focos de interés.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600200"/>
            <a:ext cx="2423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040880" y="1828800"/>
            <a:ext cx="822960" cy="82296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Validar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555555"/>
                </a:solidFill>
              </a:defRPr>
            </a:pPr>
            <a:r>
              <a:t>Anotar y validar mensajes</a:t>
            </a:r>
            <a:br/>
            <a:r>
              <a:t>en la sección</a:t>
            </a:r>
            <a:br/>
            <a:r>
              <a:t>correspondiente.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1600200"/>
            <a:ext cx="2423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921240" y="1828800"/>
            <a:ext cx="822960" cy="822960"/>
          </a:xfrm>
          <a:prstGeom prst="ellipse">
            <a:avLst/>
          </a:prstGeom>
          <a:solidFill>
            <a:srgbClr val="7D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8346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1A2C3E"/>
                </a:solidFill>
              </a:defRPr>
            </a:pPr>
            <a:r>
              <a:t>Retroalimentar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29184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555555"/>
                </a:solidFill>
              </a:defRPr>
            </a:pPr>
            <a:r>
              <a:t>La validación humana</a:t>
            </a:r>
            <a:br/>
            <a:r>
              <a:t>mejora la calidad operativa</a:t>
            </a:r>
            <a:br/>
            <a:r>
              <a:t>y el modelo.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063240" y="2971800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5943600" y="2971800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8823960" y="2971800"/>
            <a:ext cx="45720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55555"/>
                </a:solidFill>
              </a:defRPr>
            </a:pPr>
            <a:r>
              <a:t>La validación humana fortalece la utilidad operativa inmediata y mejora progresivamente el desempeño del 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Antes de la reunión del 7 de abril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BBCCDD"/>
                </a:solidFill>
              </a:defRPr>
            </a:pPr>
            <a:r>
              <a:t>Interacción previa y propuestas de mejora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071616"/>
            <a:ext cx="12191695" cy="1828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_cie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99632"/>
            <a:ext cx="2554941" cy="457200"/>
          </a:xfrm>
          <a:prstGeom prst="rect">
            <a:avLst/>
          </a:prstGeom>
        </p:spPr>
      </p:pic>
      <p:pic>
        <p:nvPicPr>
          <p:cNvPr id="10" name="Picture 9" descr="02_cif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6199632"/>
            <a:ext cx="1296878" cy="457200"/>
          </a:xfrm>
          <a:prstGeom prst="rect">
            <a:avLst/>
          </a:prstGeom>
        </p:spPr>
      </p:pic>
      <p:pic>
        <p:nvPicPr>
          <p:cNvPr id="11" name="Picture 10" descr="03_laguaji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6199632"/>
            <a:ext cx="792171" cy="457200"/>
          </a:xfrm>
          <a:prstGeom prst="rect">
            <a:avLst/>
          </a:prstGeom>
        </p:spPr>
      </p:pic>
      <p:pic>
        <p:nvPicPr>
          <p:cNvPr id="12" name="Picture 11" descr="04_c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6199632"/>
            <a:ext cx="1158844" cy="457200"/>
          </a:xfrm>
          <a:prstGeom prst="rect">
            <a:avLst/>
          </a:prstGeom>
        </p:spPr>
      </p:pic>
      <p:pic>
        <p:nvPicPr>
          <p:cNvPr id="13" name="Picture 12" descr="05_co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6199632"/>
            <a:ext cx="246680" cy="457200"/>
          </a:xfrm>
          <a:prstGeom prst="rect">
            <a:avLst/>
          </a:prstGeom>
        </p:spPr>
      </p:pic>
      <p:pic>
        <p:nvPicPr>
          <p:cNvPr id="14" name="Picture 13" descr="06_mc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6199632"/>
            <a:ext cx="1307745" cy="457200"/>
          </a:xfrm>
          <a:prstGeom prst="rect">
            <a:avLst/>
          </a:prstGeom>
        </p:spPr>
      </p:pic>
      <p:pic>
        <p:nvPicPr>
          <p:cNvPr id="15" name="Picture 14" descr="07_e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6199632"/>
            <a:ext cx="2187723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1417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A2A2A"/>
                </a:solidFill>
              </a:defRPr>
            </a:pPr>
            <a:r>
              <a:t>Es clave que cada socio interactúe con la aplicación antes de la reunión para traer observaciones y propuestas concretas.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233172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2860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Revisar al menos tres secciones de análisis (Panel general, Ranking de medios, Categorías...).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292608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880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Probar la sección de Anotación y validación con algunos mensajes.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352044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4747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Identificar mejoras de usabilidad y navegación.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11480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69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Evaluar qué información adicional sería útil visualizar.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709160"/>
            <a:ext cx="320040" cy="320040"/>
          </a:xfrm>
          <a:prstGeom prst="ellipse">
            <a:avLst/>
          </a:prstGeom>
          <a:solidFill>
            <a:srgbClr val="2D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634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A2A2A"/>
                </a:solidFill>
              </a:defRPr>
            </a:pPr>
            <a:r>
              <a:t>Pensar en la utilidad concreta para las tareas de cada entidad.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94960"/>
            <a:ext cx="10698480" cy="594360"/>
          </a:xfrm>
          <a:prstGeom prst="roundRect">
            <a:avLst>
              <a:gd name="adj" fmla="val 5000"/>
            </a:avLst>
          </a:prstGeom>
          <a:solidFill>
            <a:srgbClr val="1A2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Objetivo: consolidar la plataforma como herramienta de trabajo compartida del proyecto ReTo.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459</Words>
  <Application>Microsoft Macintosh PowerPoint</Application>
  <PresentationFormat>Panorámica</PresentationFormat>
  <Paragraphs>64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 Yankilevich</cp:lastModifiedBy>
  <cp:revision>2</cp:revision>
  <dcterms:created xsi:type="dcterms:W3CDTF">2013-01-27T09:14:16Z</dcterms:created>
  <dcterms:modified xsi:type="dcterms:W3CDTF">2026-04-01T09:32:43Z</dcterms:modified>
  <cp:category/>
</cp:coreProperties>
</file>