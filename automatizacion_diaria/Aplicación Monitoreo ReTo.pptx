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640080"/>
            <a:ext cx="4114800" cy="21498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0" y="3383280"/>
            <a:ext cx="8503920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800" b="1">
                <a:solidFill>
                  <a:srgbClr val="1A2C3E"/>
                </a:solidFill>
              </a:defRPr>
            </a:pPr>
            <a:r>
              <a:t>Aplicación de Monitoreo 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555555"/>
                </a:solidFill>
              </a:defRPr>
            </a:pPr>
            <a:r>
              <a:t>Herramienta para detección, análisis y validación de discurso de odio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58220"/>
                </a:solidFill>
              </a:defRPr>
            </a:pPr>
            <a:r>
              <a:t>Presentación para socios del proyecto  ·  Reunión 7 de abril de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65099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cie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897880"/>
            <a:ext cx="2810435" cy="502920"/>
          </a:xfrm>
          <a:prstGeom prst="rect">
            <a:avLst/>
          </a:prstGeom>
        </p:spPr>
      </p:pic>
      <p:pic>
        <p:nvPicPr>
          <p:cNvPr id="13" name="Picture 12" descr="02_cif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5897880"/>
            <a:ext cx="1426565" cy="502920"/>
          </a:xfrm>
          <a:prstGeom prst="rect">
            <a:avLst/>
          </a:prstGeom>
        </p:spPr>
      </p:pic>
      <p:pic>
        <p:nvPicPr>
          <p:cNvPr id="14" name="Picture 13" descr="03_laguaji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5897880"/>
            <a:ext cx="871388" cy="502920"/>
          </a:xfrm>
          <a:prstGeom prst="rect">
            <a:avLst/>
          </a:prstGeom>
        </p:spPr>
      </p:pic>
      <p:pic>
        <p:nvPicPr>
          <p:cNvPr id="15" name="Picture 14" descr="04_cpp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97880"/>
            <a:ext cx="1274728" cy="502920"/>
          </a:xfrm>
          <a:prstGeom prst="rect">
            <a:avLst/>
          </a:prstGeom>
        </p:spPr>
      </p:pic>
      <p:pic>
        <p:nvPicPr>
          <p:cNvPr id="16" name="Picture 15" descr="05_co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5897880"/>
            <a:ext cx="271348" cy="502920"/>
          </a:xfrm>
          <a:prstGeom prst="rect">
            <a:avLst/>
          </a:prstGeom>
        </p:spPr>
      </p:pic>
      <p:pic>
        <p:nvPicPr>
          <p:cNvPr id="17" name="Picture 16" descr="06_mc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5897880"/>
            <a:ext cx="1438520" cy="502920"/>
          </a:xfrm>
          <a:prstGeom prst="rect">
            <a:avLst/>
          </a:prstGeom>
        </p:spPr>
      </p:pic>
      <p:pic>
        <p:nvPicPr>
          <p:cNvPr id="18" name="Picture 17" descr="07_e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9920" y="5897880"/>
            <a:ext cx="240649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¿Qué aporta la plataforma hoy?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Valor operativo para 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ci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2554941" cy="457200"/>
          </a:xfrm>
          <a:prstGeom prst="rect">
            <a:avLst/>
          </a:prstGeom>
        </p:spPr>
      </p:pic>
      <p:pic>
        <p:nvPicPr>
          <p:cNvPr id="10" name="Picture 9" descr="02_cif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199632"/>
            <a:ext cx="1296878" cy="457200"/>
          </a:xfrm>
          <a:prstGeom prst="rect">
            <a:avLst/>
          </a:prstGeom>
        </p:spPr>
      </p:pic>
      <p:pic>
        <p:nvPicPr>
          <p:cNvPr id="11" name="Picture 10" descr="03_laguaj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6199632"/>
            <a:ext cx="792171" cy="457200"/>
          </a:xfrm>
          <a:prstGeom prst="rect">
            <a:avLst/>
          </a:prstGeom>
        </p:spPr>
      </p:pic>
      <p:pic>
        <p:nvPicPr>
          <p:cNvPr id="12" name="Picture 11" descr="04_c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6199632"/>
            <a:ext cx="1158844" cy="457200"/>
          </a:xfrm>
          <a:prstGeom prst="rect">
            <a:avLst/>
          </a:prstGeom>
        </p:spPr>
      </p:pic>
      <p:pic>
        <p:nvPicPr>
          <p:cNvPr id="13" name="Picture 12" descr="05_c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6199632"/>
            <a:ext cx="246680" cy="457200"/>
          </a:xfrm>
          <a:prstGeom prst="rect">
            <a:avLst/>
          </a:prstGeom>
        </p:spPr>
      </p:pic>
      <p:pic>
        <p:nvPicPr>
          <p:cNvPr id="14" name="Picture 13" descr="06_mc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199632"/>
            <a:ext cx="1307745" cy="457200"/>
          </a:xfrm>
          <a:prstGeom prst="rect">
            <a:avLst/>
          </a:prstGeom>
        </p:spPr>
      </p:pic>
      <p:pic>
        <p:nvPicPr>
          <p:cNvPr id="15" name="Picture 14" descr="07_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6199632"/>
            <a:ext cx="2187723" cy="457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31520" y="1508760"/>
            <a:ext cx="73152" cy="54864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14630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Centralización:  </a:t>
            </a:r>
            <a:r>
              <a:rPr sz="1500">
                <a:solidFill>
                  <a:srgbClr val="555555"/>
                </a:solidFill>
              </a:rPr>
              <a:t>Unifica información de mensajes en X (Twitter) y YouTube en un único entorno de trabajo.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286000"/>
            <a:ext cx="73152" cy="5486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240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Monitoreo:  </a:t>
            </a:r>
            <a:r>
              <a:rPr sz="1500">
                <a:solidFill>
                  <a:srgbClr val="555555"/>
                </a:solidFill>
              </a:rPr>
              <a:t>Permite seguir volumen, tendencias, categorías y señales de interés por plataforma y medio.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063240"/>
            <a:ext cx="73152" cy="548640"/>
          </a:xfrm>
          <a:prstGeom prst="rect">
            <a:avLst/>
          </a:prstGeom>
          <a:solidFill>
            <a:srgbClr val="2E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017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Operatividad:  </a:t>
            </a:r>
            <a:r>
              <a:rPr sz="1500">
                <a:solidFill>
                  <a:srgbClr val="555555"/>
                </a:solidFill>
              </a:rPr>
              <a:t>Facilita tareas de análisis, priorización y seguimiento del discurso de odio.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73152" cy="548640"/>
          </a:xfrm>
          <a:prstGeom prst="rect">
            <a:avLst/>
          </a:prstGeom>
          <a:solidFill>
            <a:srgbClr val="7D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794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Validación humana:  </a:t>
            </a:r>
            <a:r>
              <a:rPr sz="1500">
                <a:solidFill>
                  <a:srgbClr val="555555"/>
                </a:solidFill>
              </a:rPr>
              <a:t>Integra anotación y validación de mensajes para asegurar calidad y trazabilidad.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17720"/>
            <a:ext cx="73152" cy="5486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Uso inmediato:  </a:t>
            </a:r>
            <a:r>
              <a:rPr sz="1500">
                <a:solidFill>
                  <a:srgbClr val="555555"/>
                </a:solidFill>
              </a:rPr>
              <a:t>Apoya tareas actuales del proyecto, más allá del proceso de mejora continua del modelo.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4068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6811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58220"/>
                </a:solidFill>
              </a:defRPr>
            </a:pPr>
            <a:r>
              <a:t>La aplicación ya está operativa como herramienta de trabajo, en paralelo a la mejora continua del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Navegación de la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Perfil Editor — acceso para socios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ci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2554941" cy="457200"/>
          </a:xfrm>
          <a:prstGeom prst="rect">
            <a:avLst/>
          </a:prstGeom>
        </p:spPr>
      </p:pic>
      <p:pic>
        <p:nvPicPr>
          <p:cNvPr id="10" name="Picture 9" descr="02_cif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199632"/>
            <a:ext cx="1296878" cy="457200"/>
          </a:xfrm>
          <a:prstGeom prst="rect">
            <a:avLst/>
          </a:prstGeom>
        </p:spPr>
      </p:pic>
      <p:pic>
        <p:nvPicPr>
          <p:cNvPr id="11" name="Picture 10" descr="03_laguaj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6199632"/>
            <a:ext cx="792171" cy="457200"/>
          </a:xfrm>
          <a:prstGeom prst="rect">
            <a:avLst/>
          </a:prstGeom>
        </p:spPr>
      </p:pic>
      <p:pic>
        <p:nvPicPr>
          <p:cNvPr id="12" name="Picture 11" descr="04_c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6199632"/>
            <a:ext cx="1158844" cy="457200"/>
          </a:xfrm>
          <a:prstGeom prst="rect">
            <a:avLst/>
          </a:prstGeom>
        </p:spPr>
      </p:pic>
      <p:pic>
        <p:nvPicPr>
          <p:cNvPr id="13" name="Picture 12" descr="05_c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6199632"/>
            <a:ext cx="246680" cy="457200"/>
          </a:xfrm>
          <a:prstGeom prst="rect">
            <a:avLst/>
          </a:prstGeom>
        </p:spPr>
      </p:pic>
      <p:pic>
        <p:nvPicPr>
          <p:cNvPr id="14" name="Picture 13" descr="06_mc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199632"/>
            <a:ext cx="1307745" cy="457200"/>
          </a:xfrm>
          <a:prstGeom prst="rect">
            <a:avLst/>
          </a:prstGeom>
        </p:spPr>
      </p:pic>
      <p:pic>
        <p:nvPicPr>
          <p:cNvPr id="15" name="Picture 14" descr="07_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6199632"/>
            <a:ext cx="2187723" cy="457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1463040"/>
            <a:ext cx="3840480" cy="1280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5544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Acceso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Ingreso con usuario y contraseña asignados a cada socio del proyecto.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463040"/>
            <a:ext cx="6949440" cy="1280160"/>
          </a:xfrm>
          <a:prstGeom prst="roundRect">
            <a:avLst>
              <a:gd name="adj" fmla="val 5000"/>
            </a:avLst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55448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58220"/>
                </a:solidFill>
              </a:defRPr>
            </a:pPr>
            <a:r>
              <a:t>Secciones no visibles para Editor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Comparativa modelos  ·  Calidad LLM (reservadas para administración).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906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Panel general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Indicadores clave consolidados.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0906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063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Categorías de odio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Distribución por las 6 categorías ReTo.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0906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063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Ranking de medios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Top medios por volumen y % de odio.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050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776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Análisis contextual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Tendencias semanales y alertas.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0050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776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Términos frecuentes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Palabras más recurrentes en mensajes candidatos.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050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9776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Dataset Gold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Evaluación del etiquetado validado.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94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92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Análisis Art. 510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Potenciales delitos bajo el Código Penal.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9194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892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Anotación y validación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Flujo de trabajo de anotación humana.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9194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892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Delitos de odio (oficial)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Datos oficiales de España.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Flujo de uso para socios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Cuatro pasos del trabajo diario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ci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2554941" cy="457200"/>
          </a:xfrm>
          <a:prstGeom prst="rect">
            <a:avLst/>
          </a:prstGeom>
        </p:spPr>
      </p:pic>
      <p:pic>
        <p:nvPicPr>
          <p:cNvPr id="10" name="Picture 9" descr="02_cif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199632"/>
            <a:ext cx="1296878" cy="457200"/>
          </a:xfrm>
          <a:prstGeom prst="rect">
            <a:avLst/>
          </a:prstGeom>
        </p:spPr>
      </p:pic>
      <p:pic>
        <p:nvPicPr>
          <p:cNvPr id="11" name="Picture 10" descr="03_laguaj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6199632"/>
            <a:ext cx="792171" cy="457200"/>
          </a:xfrm>
          <a:prstGeom prst="rect">
            <a:avLst/>
          </a:prstGeom>
        </p:spPr>
      </p:pic>
      <p:pic>
        <p:nvPicPr>
          <p:cNvPr id="12" name="Picture 11" descr="04_c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6199632"/>
            <a:ext cx="1158844" cy="457200"/>
          </a:xfrm>
          <a:prstGeom prst="rect">
            <a:avLst/>
          </a:prstGeom>
        </p:spPr>
      </p:pic>
      <p:pic>
        <p:nvPicPr>
          <p:cNvPr id="13" name="Picture 12" descr="05_c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6199632"/>
            <a:ext cx="246680" cy="457200"/>
          </a:xfrm>
          <a:prstGeom prst="rect">
            <a:avLst/>
          </a:prstGeom>
        </p:spPr>
      </p:pic>
      <p:pic>
        <p:nvPicPr>
          <p:cNvPr id="14" name="Picture 13" descr="06_mc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199632"/>
            <a:ext cx="1307745" cy="457200"/>
          </a:xfrm>
          <a:prstGeom prst="rect">
            <a:avLst/>
          </a:prstGeom>
        </p:spPr>
      </p:pic>
      <p:pic>
        <p:nvPicPr>
          <p:cNvPr id="15" name="Picture 14" descr="07_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6199632"/>
            <a:ext cx="2187723" cy="457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80160" y="1828800"/>
            <a:ext cx="822960" cy="82296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Monitorear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Revisar paneles y métricas</a:t>
            </a:r>
            <a:br/>
            <a:r>
              <a:t>por plataforma, categoría</a:t>
            </a:r>
            <a:br/>
            <a:r>
              <a:t>y medio de comunicación.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1828800"/>
            <a:ext cx="822960" cy="822960"/>
          </a:xfrm>
          <a:prstGeom prst="ellipse">
            <a:avLst/>
          </a:prstGeom>
          <a:solidFill>
            <a:srgbClr val="2E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Explorar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Identificar patrones,</a:t>
            </a:r>
            <a:br/>
            <a:r>
              <a:t>picos contextuales y</a:t>
            </a:r>
            <a:br/>
            <a:r>
              <a:t>focos de interés.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80" y="1828800"/>
            <a:ext cx="822960" cy="8229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Validar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Anotar y validar mensajes</a:t>
            </a:r>
            <a:br/>
            <a:r>
              <a:t>en la sección</a:t>
            </a:r>
            <a:br/>
            <a:r>
              <a:t>correspondiente.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21240" y="1828800"/>
            <a:ext cx="822960" cy="822960"/>
          </a:xfrm>
          <a:prstGeom prst="ellipse">
            <a:avLst/>
          </a:prstGeom>
          <a:solidFill>
            <a:srgbClr val="7D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Retroalimentar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La validación humana</a:t>
            </a:r>
            <a:br/>
            <a:r>
              <a:t>mejora la calidad operativa</a:t>
            </a:r>
            <a:br/>
            <a:r>
              <a:t>y el modelo.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063240" y="2971800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943600" y="2971800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8823960" y="2971800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La validación humana fortalece la utilidad operativa inmediata y mejora progresivamente el desempeño del 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Antes de la reunión del 7 de abril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Interacción previa y propuestas de mejora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ci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2554941" cy="457200"/>
          </a:xfrm>
          <a:prstGeom prst="rect">
            <a:avLst/>
          </a:prstGeom>
        </p:spPr>
      </p:pic>
      <p:pic>
        <p:nvPicPr>
          <p:cNvPr id="10" name="Picture 9" descr="02_cif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199632"/>
            <a:ext cx="1296878" cy="457200"/>
          </a:xfrm>
          <a:prstGeom prst="rect">
            <a:avLst/>
          </a:prstGeom>
        </p:spPr>
      </p:pic>
      <p:pic>
        <p:nvPicPr>
          <p:cNvPr id="11" name="Picture 10" descr="03_laguaj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6199632"/>
            <a:ext cx="792171" cy="457200"/>
          </a:xfrm>
          <a:prstGeom prst="rect">
            <a:avLst/>
          </a:prstGeom>
        </p:spPr>
      </p:pic>
      <p:pic>
        <p:nvPicPr>
          <p:cNvPr id="12" name="Picture 11" descr="04_c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6199632"/>
            <a:ext cx="1158844" cy="457200"/>
          </a:xfrm>
          <a:prstGeom prst="rect">
            <a:avLst/>
          </a:prstGeom>
        </p:spPr>
      </p:pic>
      <p:pic>
        <p:nvPicPr>
          <p:cNvPr id="13" name="Picture 12" descr="05_c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6199632"/>
            <a:ext cx="246680" cy="457200"/>
          </a:xfrm>
          <a:prstGeom prst="rect">
            <a:avLst/>
          </a:prstGeom>
        </p:spPr>
      </p:pic>
      <p:pic>
        <p:nvPicPr>
          <p:cNvPr id="14" name="Picture 13" descr="06_mc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199632"/>
            <a:ext cx="1307745" cy="457200"/>
          </a:xfrm>
          <a:prstGeom prst="rect">
            <a:avLst/>
          </a:prstGeom>
        </p:spPr>
      </p:pic>
      <p:pic>
        <p:nvPicPr>
          <p:cNvPr id="15" name="Picture 14" descr="07_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6199632"/>
            <a:ext cx="2187723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2A2A"/>
                </a:solidFill>
              </a:defRPr>
            </a:pPr>
            <a:r>
              <a:t>Es clave que cada socio interactúe con la aplicación antes de la reunión para traer observaciones y propuestas concretas.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233172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286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Revisar al menos tres secciones de análisis (Panel general, Ranking de medios, Categorías...).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292608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80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Probar la sección de Anotación y validación con algunos mensajes.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352044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747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Identificar mejoras de usabilidad y navegación.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11480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69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Evaluar qué información adicional sería útil visualizar.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70916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63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Pensar en la utilidad concreta para las tareas de cada entidad.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9496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Objetivo: consolidar la plataforma como herramienta de trabajo compartida del proyecto ReTo.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